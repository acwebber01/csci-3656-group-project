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Average"/>
      <p:regular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verage-regular.fntdata"/><Relationship Id="rId14" Type="http://schemas.openxmlformats.org/officeDocument/2006/relationships/slide" Target="slides/slide9.xml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b76e4fe1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b76e4fe1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b76e4fe1a_0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b76e4fe1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c6f980f91_0_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c6f980f9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c6f980f91_0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c6f980f9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c6f980f91_0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c6f980f9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c6f980f91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c6f980f9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b76e4fe1a_0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b76e4fe1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Krylov.jl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Described as “A Julia Basket of Hand-Picked Krylov Methods”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Krylov methods are used for solving linear systems of equations </a:t>
            </a:r>
            <a:r>
              <a:rPr i="1" lang="en" sz="2000"/>
              <a:t>Ax = B</a:t>
            </a:r>
            <a:r>
              <a:rPr lang="en" sz="2000"/>
              <a:t>, linear least-squares problems, and linear least-norm problems.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package includes ≈48 different Krylov methods with different conditions for matrices, </a:t>
            </a:r>
            <a:r>
              <a:rPr lang="en" sz="2000"/>
              <a:t>different</a:t>
            </a:r>
            <a:r>
              <a:rPr lang="en" sz="2000"/>
              <a:t> levels of optimizations, etc.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package sees use in numerical computation and scientific research. Standard package for when specific/obscure Krylov methods are needed.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 title="Decision-tree-for-some-Krylov-Subspace-method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825" y="1279450"/>
            <a:ext cx="7934325" cy="31718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Conditions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Conditions (Cont.)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Definition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Shape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Symmetry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Hermitian?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Memory Available?</a:t>
            </a:r>
            <a:endParaRPr sz="23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300"/>
              <a:t>&amp;</a:t>
            </a:r>
            <a:endParaRPr sz="23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300"/>
              <a:t>other specific conditions/special matrices</a:t>
            </a:r>
            <a:endParaRPr sz="23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78" name="Google Shape;78;p16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0338" y="390650"/>
            <a:ext cx="3343275" cy="1371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9" name="Google Shape;79;p16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7488" y="1936925"/>
            <a:ext cx="2962275" cy="1543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fast actually are these Krylov methods? Are there further optimizations that exist?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490250" y="526350"/>
            <a:ext cx="83634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/>
              <a:t>Potential Project</a:t>
            </a:r>
            <a:r>
              <a:rPr b="1" lang="en" sz="4200"/>
              <a:t>: </a:t>
            </a:r>
            <a:endParaRPr b="1" sz="4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Measuring</a:t>
            </a:r>
            <a:r>
              <a:rPr lang="en" sz="4200"/>
              <a:t> the speed of these Krylov methods, finding and applying an optimization to one slow section of the Krylov method.</a:t>
            </a:r>
            <a:endParaRPr sz="4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the Speed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" sz="2100">
                <a:solidFill>
                  <a:schemeClr val="dk1"/>
                </a:solidFill>
              </a:rPr>
              <a:t>@time: Simple statistics on the runtime of the method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" sz="2100">
                <a:solidFill>
                  <a:schemeClr val="dk1"/>
                </a:solidFill>
              </a:rPr>
              <a:t>@profile: Provides a flame graph of the function, indicating which function calls and procedures take the most time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pic>
        <p:nvPicPr>
          <p:cNvPr id="96" name="Google Shape;96;p19" title="profiler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661275"/>
            <a:ext cx="4116445" cy="382097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265500" y="1733850"/>
            <a:ext cx="4045200" cy="16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Measures of Success</a:t>
            </a:r>
            <a:endParaRPr/>
          </a:p>
        </p:txBody>
      </p:sp>
      <p:sp>
        <p:nvSpPr>
          <p:cNvPr id="102" name="Google Shape;102;p2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Decrease in total @time runtime.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Optimization of a certain function/procedure call visually indicated in the flame graph.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Result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485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" sz="2100">
                <a:solidFill>
                  <a:schemeClr val="dk1"/>
                </a:solidFill>
              </a:rPr>
              <a:t>A visual display of the flame graph before/after indicating improvement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" sz="2100">
                <a:solidFill>
                  <a:schemeClr val="dk1"/>
                </a:solidFill>
              </a:rPr>
              <a:t>If unable to optimize further, an explanation of why, and how these methods have already been optimized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" sz="2100">
                <a:solidFill>
                  <a:schemeClr val="dk1"/>
                </a:solidFill>
              </a:rPr>
              <a:t>A pull request on the repository if </a:t>
            </a:r>
            <a:r>
              <a:rPr b="1" lang="en" sz="2100">
                <a:solidFill>
                  <a:schemeClr val="dk1"/>
                </a:solidFill>
              </a:rPr>
              <a:t>significant</a:t>
            </a:r>
            <a:r>
              <a:rPr b="1" lang="en" sz="2100">
                <a:solidFill>
                  <a:schemeClr val="dk1"/>
                </a:solidFill>
              </a:rPr>
              <a:t> optimization occurred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pic>
        <p:nvPicPr>
          <p:cNvPr id="109" name="Google Shape;109;p21" title="flame_graph_AI_met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5350" y="941775"/>
            <a:ext cx="3671701" cy="36271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